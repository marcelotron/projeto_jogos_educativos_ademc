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35455" y="2386161"/>
            <a:ext cx="8721090" cy="754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0F4C3A"/>
                </a:solidFill>
                <a:latin typeface="Playfair Display"/>
              </a:rPr>
              <a:t>A Independência do Brasil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19750" y="3426172"/>
            <a:ext cx="952500" cy="28575"/>
          </a:xfrm>
          <a:prstGeom prst="rect">
            <a:avLst/>
          </a:prstGeom>
          <a:solidFill>
            <a:srgbClr val="C29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3740497"/>
            <a:ext cx="76200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64748B"/>
                </a:solidFill>
                <a:latin typeface="Montserrat Light"/>
              </a:rPr>
              <a:t>A jornada para a soberania (1808 - 1822). Uma análise histórica dos eventos que culminaram na formação de uma nação.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60620" y="2258466"/>
            <a:ext cx="6070758" cy="809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F4C3A"/>
                </a:solidFill>
                <a:latin typeface="Playfair Display"/>
              </a:rPr>
              <a:t>O Início do Processo</a:t>
            </a:r>
          </a:p>
        </p:txBody>
      </p:sp>
      <p:sp>
        <p:nvSpPr>
          <p:cNvPr id="4" name="Rectangle 3"/>
          <p:cNvSpPr/>
          <p:nvPr/>
        </p:nvSpPr>
        <p:spPr>
          <a:xfrm>
            <a:off x="5381625" y="3544341"/>
            <a:ext cx="1428750" cy="38100"/>
          </a:xfrm>
          <a:prstGeom prst="rect">
            <a:avLst/>
          </a:prstGeom>
          <a:solidFill>
            <a:srgbClr val="C29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3868191"/>
            <a:ext cx="76200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64748B"/>
                </a:solidFill>
                <a:latin typeface="Montserrat Light"/>
              </a:rPr>
              <a:t>Como a transferência do polo de poder da Europa para a América do Sul transformou o destino da colônia portuguesa.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071687"/>
            <a:ext cx="523875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116633"/>
            <a:ext cx="523875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Montserrat"/>
              </a:rPr>
              <a:t>A invasão das tropas de Napoleão Bonaparte a Portugal forçou uma manobra estratégica sem precedentes: a transferência de toda a Corte Portuguesa para o Rio de Janeiro.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356669"/>
            <a:ext cx="5238750" cy="13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Montserrat"/>
              </a:rPr>
              <a:t>Este evento alterou radicalmente a dinâmica política e econômica da colônia. Com a </a:t>
            </a:r>
            <a:r>
              <a:rPr b="1" sz="1350" i="0" u="none">
                <a:solidFill>
                  <a:srgbClr val="334155"/>
                </a:solidFill>
                <a:latin typeface="Montserrat"/>
              </a:rPr>
              <a:t>Abertura dos Portos às Nações Amigas (1808)</a:t>
            </a:r>
            <a:r>
              <a:rPr b="0" sz="1350" i="0" u="none">
                <a:solidFill>
                  <a:srgbClr val="334155"/>
                </a:solidFill>
                <a:latin typeface="Montserrat"/>
              </a:rPr>
              <a:t>, o Brasil deixou de ser uma simples fonte de extração, rompendo o pacto colonial de forma prática.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870995"/>
            <a:ext cx="52387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Montserrat"/>
              </a:rPr>
              <a:t>Instituições financeiras, bibliotecas e academias militares foram criadas, estabelecendo as fundações de um Estado independente.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2071687"/>
            <a:ext cx="5238750" cy="381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0F4C3A"/>
                </a:solidFill>
                <a:latin typeface="Playfair Display SemiBold"/>
              </a:rPr>
              <a:t>A Fuga para o Brasil (1808)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1276350"/>
            <a:ext cx="11049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148137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0733" y="4452937"/>
            <a:ext cx="2552193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0F4C3A"/>
                </a:solidFill>
                <a:latin typeface="Playfair Display SemiBold"/>
              </a:rPr>
              <a:t>1808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833937"/>
            <a:ext cx="243066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Montserrat"/>
              </a:rPr>
              <a:t>Chegada da Família Real e Abertura dos Portos ao comércio internacional.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413" y="2626221"/>
            <a:ext cx="2552193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0F4C3A"/>
                </a:solidFill>
                <a:latin typeface="Playfair Display SemiBold"/>
              </a:rPr>
              <a:t>1815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44180" y="3007221"/>
            <a:ext cx="243066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Montserrat"/>
              </a:rPr>
              <a:t>Brasil é elevado à categoria de Reino Unido a Portugal e Algarves.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6094" y="4452937"/>
            <a:ext cx="2552193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0F4C3A"/>
                </a:solidFill>
                <a:latin typeface="Playfair Display SemiBold"/>
              </a:rPr>
              <a:t>1820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6860" y="4833937"/>
            <a:ext cx="243066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Montserrat"/>
              </a:rPr>
              <a:t>Revolução Liberal do Porto exige o retorno de D. João VI e a recolonização.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28774" y="2626221"/>
            <a:ext cx="2552193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0F4C3A"/>
                </a:solidFill>
                <a:latin typeface="Playfair Display SemiBold"/>
              </a:rPr>
              <a:t>1822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541" y="3007221"/>
            <a:ext cx="243066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Montserrat"/>
              </a:rPr>
              <a:t>D. Pedro I rompe com as Cortes Portuguesas e declara a Independência.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91580" y="40719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C29D38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64260" y="40719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C29D38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36941" y="40719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C29D38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309621" y="40719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C29D38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0F4C3A"/>
                </a:solidFill>
                <a:latin typeface="Playfair Display SemiBold"/>
              </a:rPr>
              <a:t>Linha do Tempo da Emancipação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276350"/>
            <a:ext cx="11049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3144142"/>
            <a:ext cx="48387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000"/>
              </a:lnSpc>
            </a:pPr>
            <a:r>
              <a:rPr b="1" sz="9000" i="0" u="none">
                <a:solidFill>
                  <a:srgbClr val="0F4C3A"/>
                </a:solidFill>
                <a:latin typeface="Playfair Display"/>
              </a:rPr>
              <a:t>9/Jan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4382392"/>
            <a:ext cx="4838700" cy="42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b="0" sz="2100" i="0" u="none">
                <a:solidFill>
                  <a:srgbClr val="C29D38"/>
                </a:solidFill>
                <a:latin typeface="Montserrat Medium"/>
              </a:rPr>
              <a:t>O "Dia do Fico" (1822)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72250" y="2489001"/>
            <a:ext cx="5300662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F4C3A"/>
                </a:solidFill>
                <a:latin typeface="Playfair Display SemiBold"/>
              </a:rPr>
              <a:t>A decisão contra as Cortes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72250" y="2984301"/>
            <a:ext cx="504825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Montserrat"/>
              </a:rPr>
              <a:t>Fortemente pressionado pelas Cortes portuguesas a retornar à Europa para que o Brasil voltasse ao status de subordinação, o príncipe regente D. Pedro I desafia as ordens de Lisboa.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2250" y="4224337"/>
            <a:ext cx="504825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Montserrat"/>
              </a:rPr>
              <a:t>Sua decisão de permanecer no país, apoiada pela elite agrária e burocrática local, marca uma ruptura política irreversível com a metrópole e acelera a preparação militar e diplomática para a separação final.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0F4C3A"/>
                </a:solidFill>
                <a:latin typeface="Playfair Display SemiBold"/>
              </a:rPr>
              <a:t>O Ponto de Ruptura Político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1276350"/>
            <a:ext cx="11049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00687" cy="56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0F4C3A"/>
                </a:solidFill>
                <a:latin typeface="Playfair Display SemiBold"/>
              </a:rPr>
              <a:t>O Grito do Ipiranga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0"/>
            <a:ext cx="581025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549872"/>
            <a:ext cx="5500687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F4C3A"/>
                </a:solidFill>
                <a:latin typeface="Playfair Display SemiBold"/>
              </a:rPr>
              <a:t>"Independência ou Morte!"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045172"/>
            <a:ext cx="523875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Montserrat"/>
              </a:rPr>
              <a:t>Às margens do riacho Ipiranga, em São Paulo, no dia 7 de setembro de 1822, Dom Pedro decreta o rompimento definitivo das amarras com Portugal ao receber as últimas exigências recolonizadoras das Cortes.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285208"/>
            <a:ext cx="52387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Montserrat"/>
              </a:rPr>
              <a:t>Em 12 de outubro do mesmo ano, ele seria aclamado Imperador do Brasil, consolidando a nação de forma soberana.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03139"/>
            <a:ext cx="11049000" cy="534724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" y="5303639"/>
            <a:ext cx="11049000" cy="120387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7250" y="5494139"/>
            <a:ext cx="104775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Montserrat"/>
              </a:rPr>
              <a:t>O Brasil recém-independente contava com cerca de </a:t>
            </a:r>
            <a:r>
              <a:rPr b="1" sz="1350" i="0" u="none">
                <a:solidFill>
                  <a:srgbClr val="334155"/>
                </a:solidFill>
                <a:latin typeface="Montserrat"/>
              </a:rPr>
              <a:t>4,5 milhões de habitantes</a:t>
            </a:r>
            <a:r>
              <a:rPr b="0" sz="1350" i="0" u="none">
                <a:solidFill>
                  <a:srgbClr val="334155"/>
                </a:solidFill>
                <a:latin typeface="Montserrat"/>
              </a:rPr>
              <a:t>. Diferente do ideal de "liberdade" que a independência sugeria politicamente, a economia da nova nação permaneceu estruturalmente dependente da força de trabalho de mais de 1 milhão de pessoas escravizadas.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5303639"/>
            <a:ext cx="38100" cy="1203870"/>
          </a:xfrm>
          <a:prstGeom prst="rect">
            <a:avLst/>
          </a:prstGeom>
          <a:solidFill>
            <a:srgbClr val="C29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207764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0F4C3A"/>
                </a:solidFill>
                <a:latin typeface="Playfair Display SemiBold"/>
              </a:rPr>
              <a:t>Contexto Demográfico (1822)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12614"/>
            <a:ext cx="11049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63241"/>
            <a:ext cx="5334000" cy="322689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363241"/>
            <a:ext cx="5334000" cy="32268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753766"/>
            <a:ext cx="4780597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F4C3A"/>
                </a:solidFill>
                <a:latin typeface="Playfair Display SemiBold"/>
              </a:rPr>
              <a:t>A Única Monarquia</a:t>
            </a:r>
          </a:p>
        </p:txBody>
      </p:sp>
      <p:sp>
        <p:nvSpPr>
          <p:cNvPr id="6" name="Rectangle 5"/>
          <p:cNvSpPr/>
          <p:nvPr/>
        </p:nvSpPr>
        <p:spPr>
          <a:xfrm>
            <a:off x="962025" y="3201441"/>
            <a:ext cx="4552950" cy="19050"/>
          </a:xfrm>
          <a:prstGeom prst="rect">
            <a:avLst/>
          </a:prstGeom>
          <a:solidFill>
            <a:srgbClr val="C29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2025" y="3410991"/>
            <a:ext cx="4552950" cy="16457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Montserrat"/>
              </a:rPr>
              <a:t>Ao contrário dos países vizinhos da América Espanhola, que se fragmentaram em diversas repúblicas após suas independências, o Brasil adotou o sistema monárquico. Sob a coroa de D. Pedro I, a imensa e complexa unidade territorial brasileira foi mantida.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2753766"/>
            <a:ext cx="4780597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F4C3A"/>
                </a:solidFill>
                <a:latin typeface="Playfair Display SemiBold"/>
              </a:rPr>
              <a:t>A Continuidade Estrutural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7025" y="3201441"/>
            <a:ext cx="4552950" cy="19050"/>
          </a:xfrm>
          <a:prstGeom prst="rect">
            <a:avLst/>
          </a:prstGeom>
          <a:solidFill>
            <a:srgbClr val="C29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7025" y="3410991"/>
            <a:ext cx="4552950" cy="16457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Montserrat"/>
              </a:rPr>
              <a:t>A independência brasileira foi um processo conduzido predominantemente pela elite, "de cima para baixo". Com isso, não houve mudanças sociais profundas. A estrutura econômica continuou solidamente baseada no latifúndio, na monocultura de exportação e no trabalho escravo.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0F4C3A"/>
                </a:solidFill>
                <a:latin typeface="Playfair Display SemiBold"/>
              </a:rPr>
              <a:t>As Consequências Imediatas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276350"/>
            <a:ext cx="11049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33500" y="1387971"/>
            <a:ext cx="9525000" cy="1396305"/>
          </a:xfrm>
          <a:prstGeom prst="roundRect">
            <a:avLst>
              <a:gd name="adj" fmla="val 27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00250" y="1626096"/>
            <a:ext cx="8572500" cy="9200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0F4C3A"/>
                </a:solidFill>
                <a:latin typeface="Montserrat SemiBold"/>
              </a:rPr>
              <a:t>Estados Unidos (1824)</a:t>
            </a:r>
            <a:r>
              <a:rPr b="0" sz="1350" i="0" u="none">
                <a:solidFill>
                  <a:srgbClr val="334155"/>
                </a:solidFill>
                <a:latin typeface="Montserrat"/>
              </a:rPr>
              <a:t> Foram a primeira nação a reconhecer o Brasil como independente, seguindo a Doutrina Monroe ("A América para os americanos"), buscando afastar a influência europeia do continente.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33500" y="2774751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1387971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33500" y="1387971"/>
            <a:ext cx="57150" cy="1396305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48975" y="1387971"/>
            <a:ext cx="9525" cy="139630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33500" y="3022401"/>
            <a:ext cx="9525000" cy="1396305"/>
          </a:xfrm>
          <a:prstGeom prst="roundRect">
            <a:avLst>
              <a:gd name="adj" fmla="val 27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00250" y="3260526"/>
            <a:ext cx="8572500" cy="9200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0F4C3A"/>
                </a:solidFill>
                <a:latin typeface="Montserrat SemiBold"/>
              </a:rPr>
              <a:t>Inglaterra e os Acordos Comerciais</a:t>
            </a:r>
            <a:r>
              <a:rPr b="0" sz="1350" i="0" u="none">
                <a:solidFill>
                  <a:srgbClr val="334155"/>
                </a:solidFill>
                <a:latin typeface="Montserrat"/>
              </a:rPr>
              <a:t> Atuou como mediadora crucial entre Brasil e Portugal, garantindo em troca a renovação de tarifas alfandegárias privilegiadas para os seus produtos industrializados em portos brasileiros.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33500" y="4409182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33500" y="3022401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33500" y="3022401"/>
            <a:ext cx="57150" cy="1396305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848975" y="3022401"/>
            <a:ext cx="9525" cy="139630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33500" y="4656832"/>
            <a:ext cx="9525000" cy="1670595"/>
          </a:xfrm>
          <a:prstGeom prst="roundRect">
            <a:avLst>
              <a:gd name="adj" fmla="val 228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00250" y="4894957"/>
            <a:ext cx="8572500" cy="1194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0F4C3A"/>
                </a:solidFill>
                <a:latin typeface="Montserrat SemiBold"/>
              </a:rPr>
              <a:t>Portugal (1825)</a:t>
            </a:r>
            <a:r>
              <a:rPr b="0" sz="1350" i="0" u="none">
                <a:solidFill>
                  <a:srgbClr val="334155"/>
                </a:solidFill>
                <a:latin typeface="Montserrat"/>
              </a:rPr>
              <a:t> O reconhecimento oficial por parte da antiga metrópole só ocorreu após a assinatura do Tratado do Rio de Janeiro, no qual o Brasil aceitou pagar uma pesada indenização de 2 milhões de libras esterlinas.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3500" y="6317902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33500" y="4656832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33500" y="4656832"/>
            <a:ext cx="57150" cy="1670595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848975" y="4656832"/>
            <a:ext cx="9525" cy="167059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33500" y="2774751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33500" y="4409182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3500" y="6317902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150" y="1630858"/>
            <a:ext cx="238125" cy="2762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150" y="3265289"/>
            <a:ext cx="333375" cy="2762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1150" y="4899719"/>
            <a:ext cx="304800" cy="2762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71500" y="292596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0F4C3A"/>
                </a:solidFill>
                <a:latin typeface="Playfair Display SemiBold"/>
              </a:rPr>
              <a:t>O Reconhecimento Internacional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" y="997446"/>
            <a:ext cx="11049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365176"/>
            <a:ext cx="11049000" cy="3223021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365176"/>
          <a:ext cx="11048999" cy="32230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603575"/>
                <a:gridCol w="3852862"/>
                <a:gridCol w="3592562"/>
              </a:tblGrid>
              <a:tr h="644604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FFFFFF"/>
                          </a:solidFill>
                          <a:latin typeface="Playfair Display SemiBold"/>
                        </a:rPr>
                        <a:t>Aspecto Político-Econômico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4C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FFFFFF"/>
                          </a:solidFill>
                          <a:latin typeface="Playfair Display SemiBold"/>
                        </a:rPr>
                        <a:t>Brasil Colônia (Até 1815)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4C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FFFFFF"/>
                          </a:solidFill>
                          <a:latin typeface="Playfair Display SemiBold"/>
                        </a:rPr>
                        <a:t>Império do Brasil (Pós-1822)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4C3A"/>
                    </a:solidFill>
                  </a:tcPr>
                </a:tc>
              </a:tr>
              <a:tr h="644604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Montserrat"/>
                        </a:rPr>
                        <a:t>Status Soberano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Montserrat"/>
                        </a:rPr>
                        <a:t>Subordinado à Metrópole Europeia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Montserrat"/>
                        </a:rPr>
                        <a:t>Nação Livre e Soberana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44604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Montserrat"/>
                        </a:rPr>
                        <a:t>Modelo de Governo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Montserrat"/>
                        </a:rPr>
                        <a:t>Administração Colonial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Montserrat"/>
                        </a:rPr>
                        <a:t>Monarquia Constitucional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44604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Montserrat"/>
                        </a:rPr>
                        <a:t>Comércio Internacional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Montserrat"/>
                        </a:rPr>
                        <a:t>Monopólio (Pacto Colonial)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Montserrat"/>
                        </a:rPr>
                        <a:t>Portos Abertos (Livre Comércio)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4460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Montserrat"/>
                        </a:rPr>
                        <a:t>Estrutura Social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Montserrat"/>
                        </a:rPr>
                        <a:t>Escravista, Agrária e Desigual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Montserrat"/>
                        </a:rPr>
                        <a:t>Manteve-se Escravista e Agrária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1500" y="3046214"/>
            <a:ext cx="36035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75075" y="3046214"/>
            <a:ext cx="38528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27937" y="3046214"/>
            <a:ext cx="35925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3680519"/>
            <a:ext cx="36035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75075" y="3680519"/>
            <a:ext cx="38528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27937" y="3680519"/>
            <a:ext cx="35925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4314825"/>
            <a:ext cx="36035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75075" y="4314825"/>
            <a:ext cx="38528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27937" y="4314825"/>
            <a:ext cx="35925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4949130"/>
            <a:ext cx="36035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75075" y="4949130"/>
            <a:ext cx="38528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27937" y="4949130"/>
            <a:ext cx="35925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0F4C3A"/>
                </a:solidFill>
                <a:latin typeface="Playfair Display SemiBold"/>
              </a:rPr>
              <a:t>O Brasil: Antes e Depois (Resumo)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276350"/>
            <a:ext cx="11049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1745902"/>
            <a:ext cx="9391650" cy="33660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33775" y="4283273"/>
            <a:ext cx="51244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C29D38"/>
                </a:solidFill>
                <a:latin typeface="Montserrat SemiBold"/>
              </a:rPr>
              <a:t>— DOM PEDRO I (9 DE JANEIRO DE 1822)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5925" y="1936402"/>
            <a:ext cx="1171575" cy="1333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71675" y="2317402"/>
            <a:ext cx="8248650" cy="168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b="1" sz="3150" i="0" u="none">
                <a:solidFill>
                  <a:srgbClr val="0F4C3A"/>
                </a:solidFill>
                <a:latin typeface="Playfair Display"/>
              </a:rPr>
              <a:t>"Como é para o bem de todos e felicidade geral da Nação, estou pronto! Digam ao povo que fico."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95625" y="2043410"/>
            <a:ext cx="6000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500" i="0" u="none">
                <a:solidFill>
                  <a:srgbClr val="FFFFFF"/>
                </a:solidFill>
                <a:latin typeface="Playfair Display"/>
              </a:rPr>
              <a:t>O Legado do Império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8500" y="2995910"/>
            <a:ext cx="5715000" cy="1675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E2E8F0"/>
                </a:solidFill>
                <a:latin typeface="Montserrat"/>
              </a:rPr>
              <a:t>A Independência construiu as fundações de um vasto país sob uma coroa unificada, evitando a fragmentação do continente sul-americano e criando uma identidade nacional duradoura para as gerações seguintes.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804219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588990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57946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57946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436423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436423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53642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2947094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Montserrat"/>
              </a:rPr>
              <a:t>http://bahia.ws/wp-content/uploads/2023/11/Chegada-da-familia-real-portuguesa-no-Brasil.jpg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3192809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Montserrat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Montserrat"/>
              </a:rPr>
              <a:t>bahia.ws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738413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66875" y="3731865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Montserrat"/>
              </a:rPr>
              <a:t>https://www.connectbrazil.com/wp-content/uploads/2022/09/brazilian-minute-brazils-independence-day-independence-or-death-01.jpg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3977580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Montserrat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Montserrat"/>
              </a:rPr>
              <a:t>www.connectbrazil.com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523184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75" y="4516635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Montserrat"/>
              </a:rPr>
              <a:t>https://www.pictorem.com/uploads/collection/A/AB7CQI5BHA/900_Best-Map-Shop_823078_1867_Map_of_the_Empire_of_Brazil.jpg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4762351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Montserrat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Montserrat"/>
              </a:rPr>
              <a:t>www.pictorem.com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0F4C3A"/>
                </a:solidFill>
                <a:latin typeface="Playfair Display SemiBold"/>
              </a:rPr>
              <a:t>Image Sources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276350"/>
            <a:ext cx="11049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